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60" r:id="rId5"/>
    <p:sldId id="261" r:id="rId6"/>
    <p:sldId id="262" r:id="rId7"/>
    <p:sldId id="263" r:id="rId8"/>
    <p:sldId id="267" r:id="rId9"/>
    <p:sldId id="264" r:id="rId10"/>
    <p:sldId id="266" r:id="rId11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BE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2CCBD27-2017-4083-8306-4AF4201DE26C}" type="datetimeFigureOut">
              <a:rPr lang="fr-BE" smtClean="0"/>
              <a:t>23-03-26</a:t>
            </a:fld>
            <a:endParaRPr lang="fr-BE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BE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BE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4EBDF11-E6C0-49D4-AA9D-12CE67B77172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8616496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1D961BA-291D-97A3-9148-0C4FD538D0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BC993B29-1D37-1CC5-C36A-E4B2242589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2439B63-6251-C4FC-6DB1-558DB62F82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EF7359-6F4B-4DDE-B4B4-FCA63065D932}" type="datetime1">
              <a:rPr lang="fr-BE" smtClean="0"/>
              <a:t>23-03-26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6152541-EE4E-A458-C5B1-26178E37A3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89ED024-FDCB-FA3C-B156-41FE2CADF3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8B8F9-767A-4546-9D20-2187B79FBE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8895368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85E8A97-6F38-59FD-BAFA-52A266984B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5A1F500-B69C-CD10-5BBD-6C7AE1EA16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2B5B0DC-09BF-CC65-309C-4C8E3B4E0F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1B25C4-57E3-4BAD-9025-80D611C580C5}" type="datetime1">
              <a:rPr lang="fr-BE" smtClean="0"/>
              <a:t>23-03-26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21B19A3-6D7D-1E5C-118B-740BCEE9EC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5BFB97C-E358-15A7-B389-F076025AB5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8B8F9-767A-4546-9D20-2187B79FBE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6544738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E9033E5-55F0-B352-03B9-47CFAF8BF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2A70BD1-9493-4CC9-5705-1062024AA5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CCF9FCD-AC8C-8E93-B0C0-F4DADFE291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AEE8E9-C149-4CBD-8A27-D3C134FE4790}" type="datetime1">
              <a:rPr lang="fr-BE" smtClean="0"/>
              <a:t>23-03-26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D2341B2-0BD4-42F8-23B5-6BD7EA772A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EF9EC10-7AA1-4B85-8F1E-B94C712596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8B8F9-767A-4546-9D20-2187B79FBE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7585428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460D486-500A-03D9-4C09-CD079E3539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5067C42-08CD-479D-78AC-E0B85D4D089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5DD4065D-2A40-F2DA-CA4B-8880A82E5D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4942037-5D1B-954C-6963-06CE9003AB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0408B-0B2E-4C7C-AA7F-063F6F6EF8C4}" type="datetime1">
              <a:rPr lang="fr-BE" smtClean="0"/>
              <a:t>23-03-26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C2110DB8-3A58-62E0-077F-CA27FA0EB7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F15DE72-47C9-696F-83A6-B45DA8889E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8B8F9-767A-4546-9D20-2187B79FBE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1307317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83843CD-653D-C9C8-E9B7-1D13D863B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06FA606-5754-8FA8-EB47-EA25EC12FC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1D18543E-BE2C-D599-EEE5-3D99924180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DC7A010E-730D-677D-D9D7-152DCAD73A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63A23EA9-BA2F-7F11-350A-2C58AEF2F13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CF08BF6F-DEEA-6546-95FA-33285CFBDD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C273B-A74A-48F8-A6D4-D84FC06B84B9}" type="datetime1">
              <a:rPr lang="fr-BE" smtClean="0"/>
              <a:t>23-03-26</a:t>
            </a:fld>
            <a:endParaRPr lang="fr-BE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ACC662A4-7335-8F2C-060E-1637273652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DF11906F-D4C1-4F70-257E-5AA09B285C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8B8F9-767A-4546-9D20-2187B79FBE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6630660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9B19A45-1895-230E-82FE-16DE3780F2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95A1C79D-9BB7-23BF-96B9-663A7D5A05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A11E5-1A77-4A3C-9204-B04202A08EF6}" type="datetime1">
              <a:rPr lang="fr-BE" smtClean="0"/>
              <a:t>23-03-26</a:t>
            </a:fld>
            <a:endParaRPr lang="fr-BE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596DC593-5021-A87C-C97E-C7E6EC7712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FA042C0-E0E5-0CF3-B274-2690B631AE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8B8F9-767A-4546-9D20-2187B79FBE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8596854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D5006FEF-FF2A-FAF8-B83D-E3DFBF7DEB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DA988F-6694-47E8-858D-407A6329EFB0}" type="datetime1">
              <a:rPr lang="fr-BE" smtClean="0"/>
              <a:t>23-03-26</a:t>
            </a:fld>
            <a:endParaRPr lang="fr-BE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28F35A08-C41D-5E9B-9568-4CF7E9012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997FCD8-9915-3CA5-627F-E2156D9518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8B8F9-767A-4546-9D20-2187B79FBE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1642647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1E1F1FA-E42D-4915-0F8F-9517FA85C2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22FD00B-0A1A-0E4B-9769-C43D75A649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1E15D0D1-8FDB-830F-870C-960E60A399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43260FF-EBA8-F2A9-0A30-B795020072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B35633-F119-425E-B57E-850D62C8335C}" type="datetime1">
              <a:rPr lang="fr-BE" smtClean="0"/>
              <a:t>23-03-26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E494B1D4-018F-9928-A4B6-B689983B5B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BEAA2624-CE92-87D1-4575-471451D4D9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8B8F9-767A-4546-9D20-2187B79FBE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4081735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CEFD03F-0A4E-DDC4-2E4D-1025C0C41F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B9D59E31-C0CE-3171-7C14-8C5C0495321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BE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35BC0314-E2A9-1212-EC89-BE5218C51B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170323AB-941F-9555-8BBA-B530BAA316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ECA291-4A83-4694-9EB9-29897EE83568}" type="datetime1">
              <a:rPr lang="fr-BE" smtClean="0"/>
              <a:t>23-03-26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B1CE565-2A11-01F4-3DBE-48CB957C22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E48092A-C140-906E-CF32-E322223AA7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8B8F9-767A-4546-9D20-2187B79FBE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5725528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47C4899-4132-F5B0-54D9-9EB746B9D7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871BF9BF-47DA-A687-A02B-91085B2B33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28A55B2-1F8F-A2CD-97DD-A19815C340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BE8029-426D-497D-80B4-D4AD16055BC9}" type="datetime1">
              <a:rPr lang="fr-BE" smtClean="0"/>
              <a:t>23-03-26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42A11B7-26F4-EEAA-5717-7324A16126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DA0232A-F5BA-11F1-BFBF-2EF713136B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8B8F9-767A-4546-9D20-2187B79FBE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7467415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B72BDDF0-8DCA-1DCB-A7E4-82A794826C7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E45B8A44-A78D-B316-04A2-9AFA1BF58A3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4C135EC-B571-FEE8-888D-8CEA07A633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978CD1-4B56-4F0B-B848-FE19E6C0C64E}" type="datetime1">
              <a:rPr lang="fr-BE" smtClean="0"/>
              <a:t>23-03-26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50D825E-C463-3065-FFAF-B1BED5B4A5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B3B19BC-432B-9C01-62EE-2349E702B9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8B8F9-767A-4546-9D20-2187B79FBE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691849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FCCA7100-51A1-B3BD-FF8C-A5E62BA4E1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1374CFF-D3C8-563C-6974-CF5D5F7367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30199C9-3010-90F8-E3D6-8D068AFB09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5A3AF2D-059E-4402-BD1F-D0C247FC3B3C}" type="datetime1">
              <a:rPr lang="fr-BE" smtClean="0"/>
              <a:t>23-03-26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F3563F0-B213-F921-D5F9-AC46A4828C8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DBFA6C4-02E3-55E1-F30B-FC7331EF627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D78B8F9-767A-4546-9D20-2187B79FBE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2869066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F8EAAB0-94D4-0D3D-ADD9-B2EA0A20F43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BE" dirty="0"/>
              <a:t>LINFO1341 : Projet SRTP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83E20315-798F-02B5-99A4-DE702CC0F7C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BE" dirty="0"/>
              <a:t>Mbengue Abdou</a:t>
            </a:r>
          </a:p>
          <a:p>
            <a:r>
              <a:rPr lang="fr-BE" dirty="0" err="1"/>
              <a:t>Yamdjieu</a:t>
            </a:r>
            <a:r>
              <a:rPr lang="fr-BE" dirty="0"/>
              <a:t> Isaac</a:t>
            </a:r>
          </a:p>
          <a:p>
            <a:r>
              <a:rPr lang="fr-BE" dirty="0"/>
              <a:t>Bortoluzzi </a:t>
            </a:r>
            <a:r>
              <a:rPr lang="fr-BE" dirty="0" err="1"/>
              <a:t>Cesar</a:t>
            </a:r>
            <a:endParaRPr lang="fr-BE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5F2E016-3249-9AF9-3FF4-0EDD024D80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8B8F9-767A-4546-9D20-2187B79FBE53}" type="slidenum">
              <a:rPr lang="fr-BE" smtClean="0"/>
              <a:t>1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7938674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462AF9C-1916-46F4-62F8-124E170BAD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Architecture du client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8B24E27-5A66-1FCA-FA01-5E899756DB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Envoie d’une requête HTTP simplifié au serveur avec un timestamp initial. </a:t>
            </a:r>
          </a:p>
          <a:p>
            <a:r>
              <a:rPr lang="fr-BE" dirty="0"/>
              <a:t>Réception du </a:t>
            </a:r>
            <a:r>
              <a:rPr lang="fr-BE" dirty="0" err="1"/>
              <a:t>packet</a:t>
            </a:r>
            <a:r>
              <a:rPr lang="fr-BE" dirty="0"/>
              <a:t> et décodage avec protocole (si paquet corrompu, ignoré)</a:t>
            </a:r>
          </a:p>
          <a:p>
            <a:r>
              <a:rPr lang="fr-BE" dirty="0"/>
              <a:t>Ecriture si paquet attendu, stockage dans buffer sinon</a:t>
            </a:r>
          </a:p>
          <a:p>
            <a:r>
              <a:rPr lang="fr-BE" dirty="0"/>
              <a:t>ACK renvoyé si pas de perte, SACK sinon</a:t>
            </a:r>
          </a:p>
          <a:p>
            <a:r>
              <a:rPr lang="fr-BE" dirty="0"/>
              <a:t>Si timeout : retransmet la requête GET si le transfert n’a pas commencé, envoie le dernier </a:t>
            </a:r>
            <a:r>
              <a:rPr lang="fr-BE" dirty="0" err="1"/>
              <a:t>ack</a:t>
            </a:r>
            <a:r>
              <a:rPr lang="fr-BE" dirty="0"/>
              <a:t> sinon</a:t>
            </a:r>
          </a:p>
          <a:p>
            <a:pPr marL="0" indent="0">
              <a:buNone/>
            </a:pPr>
            <a:endParaRPr lang="fr-BE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A68964F-E60E-CA65-82CB-445B724563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8B8F9-767A-4546-9D20-2187B79FBE53}" type="slidenum">
              <a:rPr lang="fr-BE" smtClean="0"/>
              <a:t>2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2450704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E10B96E-3D71-43F3-57D8-68A13A174D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Architecture du serveur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974AB90-ED44-DFB7-680B-3716864C6A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94631"/>
          </a:xfrm>
        </p:spPr>
        <p:txBody>
          <a:bodyPr>
            <a:normAutofit fontScale="92500" lnSpcReduction="10000"/>
          </a:bodyPr>
          <a:lstStyle/>
          <a:p>
            <a:r>
              <a:rPr lang="fr-BE" dirty="0"/>
              <a:t>Liste des Clients avec chacun leurs états</a:t>
            </a:r>
          </a:p>
          <a:p>
            <a:r>
              <a:rPr lang="fr-BE" dirty="0"/>
              <a:t>Reçoit un paquet et vérifie si le client est présent dans la liste </a:t>
            </a:r>
          </a:p>
          <a:p>
            <a:r>
              <a:rPr lang="fr-BE" dirty="0"/>
              <a:t>Si présent, traite ACK/SACK </a:t>
            </a:r>
          </a:p>
          <a:p>
            <a:r>
              <a:rPr lang="fr-BE" dirty="0"/>
              <a:t>Sinon : vérifie la requête DATA, ouvre un fichier et ajoute le client à la liste</a:t>
            </a:r>
          </a:p>
          <a:p>
            <a:r>
              <a:rPr lang="fr-BE" dirty="0"/>
              <a:t>Envoie des données tant que fenêtre pas pleine et </a:t>
            </a:r>
            <a:r>
              <a:rPr lang="fr-BE" dirty="0" err="1"/>
              <a:t>fchier</a:t>
            </a:r>
            <a:r>
              <a:rPr lang="fr-BE" dirty="0"/>
              <a:t> pas fini</a:t>
            </a:r>
          </a:p>
          <a:p>
            <a:r>
              <a:rPr lang="fr-BE" dirty="0"/>
              <a:t>Si timeout : si l’envoie n’est pas fini, envoie les sauvegardes du </a:t>
            </a:r>
            <a:r>
              <a:rPr lang="fr-BE" dirty="0" err="1"/>
              <a:t>packets</a:t>
            </a:r>
            <a:r>
              <a:rPr lang="fr-BE" dirty="0"/>
              <a:t>; retransmet le paquet de fin si pas encore acquitté</a:t>
            </a:r>
          </a:p>
          <a:p>
            <a:r>
              <a:rPr lang="fr-FR" dirty="0"/>
              <a:t>Transfert considéré terminé 3 secondes après l’envoie du paquet de fin</a:t>
            </a:r>
          </a:p>
          <a:p>
            <a:r>
              <a:rPr lang="fr-FR" dirty="0"/>
              <a:t>A la fin du transfert, envoie un </a:t>
            </a:r>
            <a:r>
              <a:rPr lang="fr-FR" dirty="0" err="1"/>
              <a:t>packet</a:t>
            </a:r>
            <a:r>
              <a:rPr lang="fr-FR" dirty="0"/>
              <a:t> vide, attends le ACK et nettoie le client de la liste</a:t>
            </a:r>
            <a:endParaRPr lang="fr-BE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C182156-267D-C3A8-434A-04AF4CE312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8B8F9-767A-4546-9D20-2187B79FBE53}" type="slidenum">
              <a:rPr lang="fr-BE" smtClean="0"/>
              <a:t>3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2998606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CB6E528-DB78-23E5-9EB0-3F7C72A580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Timestamp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83C7DC3-0304-0075-6D07-5112392AF7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Utilisé pour calculer le RTT (temps que met une requête pour être traité et que la réponse revienne) et définir un timeout.</a:t>
            </a:r>
          </a:p>
          <a:p>
            <a:r>
              <a:rPr lang="fr-BE" dirty="0"/>
              <a:t>Initialisé comme le temps actuel multiplié par 1000 modulo 32 bits (2 exposant 32).</a:t>
            </a:r>
          </a:p>
          <a:p>
            <a:r>
              <a:rPr lang="fr-BE" dirty="0"/>
              <a:t>Permet de toujours savoir le moment où la requête a été envoyé.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811D8AD-6C4E-04EE-39D7-F133140694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8B8F9-767A-4546-9D20-2187B79FBE53}" type="slidenum">
              <a:rPr lang="fr-BE" smtClean="0"/>
              <a:t>4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201582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44B226A-A6C4-1E43-0B07-51B4421AE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Retransmission timeout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DA19888-2176-3B90-1597-1F96E4E34A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Adaptatif, maximum entre 0.5 et 2.5 fois RTT estimé (0.875 * ancien RTT + 0.125 * mesure). </a:t>
            </a:r>
          </a:p>
          <a:p>
            <a:r>
              <a:rPr lang="fr-BE" dirty="0"/>
              <a:t>Permet d’éviter les retransmissions inutiles tout en étant réactif aux variations réseaux.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F09B27B-FBEA-B891-65BC-0F63ECCB6C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8B8F9-767A-4546-9D20-2187B79FBE53}" type="slidenum">
              <a:rPr lang="fr-BE" smtClean="0"/>
              <a:t>5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9032282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737EEDB-BD17-5293-55AD-CC15F78B92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Partie critique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0AC1372-CE1F-CD60-74E5-EF9DDAB006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La partie critique de notre implémentation affectant la vitesse de transfert est la gestion de la fenêtre et du buffer.</a:t>
            </a:r>
          </a:p>
          <a:p>
            <a:r>
              <a:rPr lang="fr-BE" dirty="0"/>
              <a:t>Taille maximale de la fenêtre = 63.</a:t>
            </a:r>
          </a:p>
          <a:p>
            <a:r>
              <a:rPr lang="fr-BE" dirty="0"/>
              <a:t>Retransmissions et traitement des ACK/SACK plus complexes</a:t>
            </a:r>
          </a:p>
          <a:p>
            <a:r>
              <a:rPr lang="fr-BE" dirty="0"/>
              <a:t>Trop de pertes et de désordre dans les envois -&gt; grand nombre de retransmissions</a:t>
            </a:r>
          </a:p>
          <a:p>
            <a:pPr marL="0" indent="0">
              <a:buNone/>
            </a:pPr>
            <a:endParaRPr lang="fr-BE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63BA72F-A06E-C982-6BE5-F3FAF30BCD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8B8F9-767A-4546-9D20-2187B79FBE53}" type="slidenum">
              <a:rPr lang="fr-BE" smtClean="0"/>
              <a:t>6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3536969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1AEA3A3-5F18-11E7-8D99-8D2BC55590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Performances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4C74EF7-A164-2B47-96EB-7094A2A31D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 dirty="0"/>
              <a:t>Mesures : débit (bytes/sec), temps de transfert, nombre de retransmissions</a:t>
            </a:r>
          </a:p>
          <a:p>
            <a:r>
              <a:rPr lang="fr-BE" dirty="0"/>
              <a:t>Scénarios : réseau parfait, pertes, fichiers de tailles variés</a:t>
            </a:r>
          </a:p>
          <a:p>
            <a:r>
              <a:rPr lang="fr-BE" dirty="0"/>
              <a:t>Méthodologie : </a:t>
            </a:r>
            <a:r>
              <a:rPr lang="fr-FR" dirty="0"/>
              <a:t>Comparaison </a:t>
            </a:r>
            <a:r>
              <a:rPr lang="fr-FR" b="1" dirty="0"/>
              <a:t>MD5</a:t>
            </a:r>
            <a:r>
              <a:rPr lang="fr-FR" dirty="0"/>
              <a:t> (intégrité), Tests automatisés avec </a:t>
            </a:r>
            <a:r>
              <a:rPr lang="fr-FR" dirty="0" err="1"/>
              <a:t>pytest</a:t>
            </a:r>
            <a:r>
              <a:rPr lang="fr-FR" dirty="0"/>
              <a:t>, Proxy UDP pour interopérabilité, fichiers déterministes, environnement contrôlé (loopback) </a:t>
            </a:r>
          </a:p>
          <a:p>
            <a:endParaRPr lang="fr-BE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29C6140-EB72-8BB1-8908-BC05E56E75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8B8F9-767A-4546-9D20-2187B79FBE53}" type="slidenum">
              <a:rPr lang="fr-BE" smtClean="0"/>
              <a:t>7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4799163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3594255-E7EC-3F1F-DEE5-9B856BC933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0"/>
            <a:ext cx="10515600" cy="6766560"/>
          </a:xfrm>
        </p:spPr>
        <p:txBody>
          <a:bodyPr/>
          <a:lstStyle/>
          <a:p>
            <a:pPr marL="0" indent="0">
              <a:buNone/>
            </a:pPr>
            <a:r>
              <a:rPr lang="fr-BE" dirty="0"/>
              <a:t> </a:t>
            </a:r>
          </a:p>
        </p:txBody>
      </p:sp>
      <p:graphicFrame>
        <p:nvGraphicFramePr>
          <p:cNvPr id="4" name="Tableau 3">
            <a:extLst>
              <a:ext uri="{FF2B5EF4-FFF2-40B4-BE49-F238E27FC236}">
                <a16:creationId xmlns:a16="http://schemas.microsoft.com/office/drawing/2014/main" id="{A3FA5860-7BE6-9223-B071-F70F567C7C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7111868"/>
              </p:ext>
            </p:extLst>
          </p:nvPr>
        </p:nvGraphicFramePr>
        <p:xfrm>
          <a:off x="838200" y="561364"/>
          <a:ext cx="7464552" cy="1463040"/>
        </p:xfrm>
        <a:graphic>
          <a:graphicData uri="http://schemas.openxmlformats.org/drawingml/2006/table">
            <a:tbl>
              <a:tblPr/>
              <a:tblGrid>
                <a:gridCol w="1866138">
                  <a:extLst>
                    <a:ext uri="{9D8B030D-6E8A-4147-A177-3AD203B41FA5}">
                      <a16:colId xmlns:a16="http://schemas.microsoft.com/office/drawing/2014/main" val="2205102735"/>
                    </a:ext>
                  </a:extLst>
                </a:gridCol>
                <a:gridCol w="1866138">
                  <a:extLst>
                    <a:ext uri="{9D8B030D-6E8A-4147-A177-3AD203B41FA5}">
                      <a16:colId xmlns:a16="http://schemas.microsoft.com/office/drawing/2014/main" val="1732646216"/>
                    </a:ext>
                  </a:extLst>
                </a:gridCol>
                <a:gridCol w="1866138">
                  <a:extLst>
                    <a:ext uri="{9D8B030D-6E8A-4147-A177-3AD203B41FA5}">
                      <a16:colId xmlns:a16="http://schemas.microsoft.com/office/drawing/2014/main" val="797674455"/>
                    </a:ext>
                  </a:extLst>
                </a:gridCol>
                <a:gridCol w="1866138">
                  <a:extLst>
                    <a:ext uri="{9D8B030D-6E8A-4147-A177-3AD203B41FA5}">
                      <a16:colId xmlns:a16="http://schemas.microsoft.com/office/drawing/2014/main" val="170338775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BE" dirty="0"/>
                        <a:t>Taille fichier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BE"/>
                        <a:t>Temps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BE"/>
                        <a:t>Débit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BE"/>
                        <a:t>Retransmissions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1805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BE"/>
                        <a:t>500 B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BE" dirty="0"/>
                        <a:t>6 ms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BE" dirty="0"/>
                        <a:t>98 KB/s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BE"/>
                        <a:t>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1936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BE"/>
                        <a:t>5 KB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BE" dirty="0"/>
                        <a:t>17 ms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BE" dirty="0"/>
                        <a:t>324 KB/s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BE"/>
                        <a:t>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16493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BE"/>
                        <a:t>50 KB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BE" dirty="0"/>
                        <a:t>85 ms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BE" dirty="0"/>
                        <a:t>619 KB/s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BE" dirty="0"/>
                        <a:t>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52128043"/>
                  </a:ext>
                </a:extLst>
              </a:tr>
            </a:tbl>
          </a:graphicData>
        </a:graphic>
      </p:graphicFrame>
      <p:graphicFrame>
        <p:nvGraphicFramePr>
          <p:cNvPr id="7" name="Tableau 6">
            <a:extLst>
              <a:ext uri="{FF2B5EF4-FFF2-40B4-BE49-F238E27FC236}">
                <a16:creationId xmlns:a16="http://schemas.microsoft.com/office/drawing/2014/main" id="{70892891-7F5D-F2F3-345B-E0F52702AB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2946953"/>
              </p:ext>
            </p:extLst>
          </p:nvPr>
        </p:nvGraphicFramePr>
        <p:xfrm>
          <a:off x="838200" y="2697480"/>
          <a:ext cx="7546848" cy="1463040"/>
        </p:xfrm>
        <a:graphic>
          <a:graphicData uri="http://schemas.openxmlformats.org/drawingml/2006/table">
            <a:tbl>
              <a:tblPr/>
              <a:tblGrid>
                <a:gridCol w="1886712">
                  <a:extLst>
                    <a:ext uri="{9D8B030D-6E8A-4147-A177-3AD203B41FA5}">
                      <a16:colId xmlns:a16="http://schemas.microsoft.com/office/drawing/2014/main" val="4176000407"/>
                    </a:ext>
                  </a:extLst>
                </a:gridCol>
                <a:gridCol w="1886712">
                  <a:extLst>
                    <a:ext uri="{9D8B030D-6E8A-4147-A177-3AD203B41FA5}">
                      <a16:colId xmlns:a16="http://schemas.microsoft.com/office/drawing/2014/main" val="890025117"/>
                    </a:ext>
                  </a:extLst>
                </a:gridCol>
                <a:gridCol w="1886712">
                  <a:extLst>
                    <a:ext uri="{9D8B030D-6E8A-4147-A177-3AD203B41FA5}">
                      <a16:colId xmlns:a16="http://schemas.microsoft.com/office/drawing/2014/main" val="2112727141"/>
                    </a:ext>
                  </a:extLst>
                </a:gridCol>
                <a:gridCol w="1886712">
                  <a:extLst>
                    <a:ext uri="{9D8B030D-6E8A-4147-A177-3AD203B41FA5}">
                      <a16:colId xmlns:a16="http://schemas.microsoft.com/office/drawing/2014/main" val="329692409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BE"/>
                        <a:t>Taille fichier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BE"/>
                        <a:t>Temps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BE"/>
                        <a:t>Débit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BE"/>
                        <a:t>Retransmissions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11597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BE"/>
                        <a:t>500 B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BE" dirty="0"/>
                        <a:t>9 ms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BE" dirty="0"/>
                        <a:t>58 KB/s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BE"/>
                        <a:t>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50895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BE"/>
                        <a:t>5 KB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BE" dirty="0"/>
                        <a:t>39 ms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BE" dirty="0"/>
                        <a:t>133 KB/s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BE" dirty="0"/>
                        <a:t>13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286999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BE"/>
                        <a:t>50 KB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BE" dirty="0"/>
                        <a:t>211 ms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BE" dirty="0"/>
                        <a:t>230 KB/s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BE" dirty="0"/>
                        <a:t>41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6704408"/>
                  </a:ext>
                </a:extLst>
              </a:tr>
            </a:tbl>
          </a:graphicData>
        </a:graphic>
      </p:graphicFrame>
      <p:sp>
        <p:nvSpPr>
          <p:cNvPr id="8" name="ZoneTexte 7">
            <a:extLst>
              <a:ext uri="{FF2B5EF4-FFF2-40B4-BE49-F238E27FC236}">
                <a16:creationId xmlns:a16="http://schemas.microsoft.com/office/drawing/2014/main" id="{C47A4C76-4017-5CF2-508A-51FBD5C3D5D1}"/>
              </a:ext>
            </a:extLst>
          </p:cNvPr>
          <p:cNvSpPr txBox="1"/>
          <p:nvPr/>
        </p:nvSpPr>
        <p:spPr>
          <a:xfrm>
            <a:off x="838200" y="2216436"/>
            <a:ext cx="2057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b="1" dirty="0"/>
              <a:t>Pertes (5%)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8972BCAB-C111-396D-7FB5-4FBA2FE8765A}"/>
              </a:ext>
            </a:extLst>
          </p:cNvPr>
          <p:cNvSpPr txBox="1"/>
          <p:nvPr/>
        </p:nvSpPr>
        <p:spPr>
          <a:xfrm>
            <a:off x="838200" y="91440"/>
            <a:ext cx="25328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b="1" dirty="0"/>
              <a:t>Réseau parfait</a:t>
            </a:r>
          </a:p>
        </p:txBody>
      </p:sp>
      <p:graphicFrame>
        <p:nvGraphicFramePr>
          <p:cNvPr id="11" name="Tableau 10">
            <a:extLst>
              <a:ext uri="{FF2B5EF4-FFF2-40B4-BE49-F238E27FC236}">
                <a16:creationId xmlns:a16="http://schemas.microsoft.com/office/drawing/2014/main" id="{E23F853A-1A2F-1761-A6CC-1AD191FF70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2110954"/>
              </p:ext>
            </p:extLst>
          </p:nvPr>
        </p:nvGraphicFramePr>
        <p:xfrm>
          <a:off x="838200" y="4833596"/>
          <a:ext cx="7830312" cy="1463040"/>
        </p:xfrm>
        <a:graphic>
          <a:graphicData uri="http://schemas.openxmlformats.org/drawingml/2006/table">
            <a:tbl>
              <a:tblPr/>
              <a:tblGrid>
                <a:gridCol w="1957578">
                  <a:extLst>
                    <a:ext uri="{9D8B030D-6E8A-4147-A177-3AD203B41FA5}">
                      <a16:colId xmlns:a16="http://schemas.microsoft.com/office/drawing/2014/main" val="1366090509"/>
                    </a:ext>
                  </a:extLst>
                </a:gridCol>
                <a:gridCol w="1957578">
                  <a:extLst>
                    <a:ext uri="{9D8B030D-6E8A-4147-A177-3AD203B41FA5}">
                      <a16:colId xmlns:a16="http://schemas.microsoft.com/office/drawing/2014/main" val="2545641747"/>
                    </a:ext>
                  </a:extLst>
                </a:gridCol>
                <a:gridCol w="1957578">
                  <a:extLst>
                    <a:ext uri="{9D8B030D-6E8A-4147-A177-3AD203B41FA5}">
                      <a16:colId xmlns:a16="http://schemas.microsoft.com/office/drawing/2014/main" val="2372894590"/>
                    </a:ext>
                  </a:extLst>
                </a:gridCol>
                <a:gridCol w="1957578">
                  <a:extLst>
                    <a:ext uri="{9D8B030D-6E8A-4147-A177-3AD203B41FA5}">
                      <a16:colId xmlns:a16="http://schemas.microsoft.com/office/drawing/2014/main" val="54093492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BE"/>
                        <a:t>Taille fichier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BE"/>
                        <a:t>Temps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BE"/>
                        <a:t>Débit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BE"/>
                        <a:t>Retransmissions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899816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BE"/>
                        <a:t>500 B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BE" dirty="0"/>
                        <a:t>14 ms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BE" dirty="0"/>
                        <a:t>46 KB/s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BE" dirty="0"/>
                        <a:t>4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599501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BE"/>
                        <a:t>5 KB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BE" dirty="0"/>
                        <a:t>67 ms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BE" dirty="0"/>
                        <a:t>94 KB/s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BE" dirty="0"/>
                        <a:t>23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67226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BE"/>
                        <a:t>50 KB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BE" dirty="0"/>
                        <a:t>442 ms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BE" dirty="0"/>
                        <a:t>141 KB/s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BE" dirty="0"/>
                        <a:t>99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24136742"/>
                  </a:ext>
                </a:extLst>
              </a:tr>
            </a:tbl>
          </a:graphicData>
        </a:graphic>
      </p:graphicFrame>
      <p:sp>
        <p:nvSpPr>
          <p:cNvPr id="12" name="ZoneTexte 11">
            <a:extLst>
              <a:ext uri="{FF2B5EF4-FFF2-40B4-BE49-F238E27FC236}">
                <a16:creationId xmlns:a16="http://schemas.microsoft.com/office/drawing/2014/main" id="{23E9FAAC-2008-81F4-280D-FD0B2A9844EC}"/>
              </a:ext>
            </a:extLst>
          </p:cNvPr>
          <p:cNvSpPr txBox="1"/>
          <p:nvPr/>
        </p:nvSpPr>
        <p:spPr>
          <a:xfrm>
            <a:off x="838200" y="4363672"/>
            <a:ext cx="14996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b="1" dirty="0"/>
              <a:t>Pertes (10%)</a:t>
            </a:r>
          </a:p>
        </p:txBody>
      </p:sp>
      <p:sp>
        <p:nvSpPr>
          <p:cNvPr id="13" name="Espace réservé du numéro de diapositive 12">
            <a:extLst>
              <a:ext uri="{FF2B5EF4-FFF2-40B4-BE49-F238E27FC236}">
                <a16:creationId xmlns:a16="http://schemas.microsoft.com/office/drawing/2014/main" id="{1DA15EBB-DA5D-6E92-320F-C1FDE0560A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8B8F9-767A-4546-9D20-2187B79FBE53}" type="slidenum">
              <a:rPr lang="fr-BE" smtClean="0"/>
              <a:t>8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7506579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3966033-240C-9EA6-F680-D9EEFEFA2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Tests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E8B874C-98CB-20AD-055C-CE7C143C9C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FR" b="1" dirty="0"/>
              <a:t> Tests unitaires : </a:t>
            </a:r>
            <a:r>
              <a:rPr lang="fr-FR" dirty="0" err="1"/>
              <a:t>empackage</a:t>
            </a:r>
            <a:r>
              <a:rPr lang="fr-FR" dirty="0"/>
              <a:t> / </a:t>
            </a:r>
            <a:r>
              <a:rPr lang="fr-FR" dirty="0" err="1"/>
              <a:t>depackage</a:t>
            </a:r>
            <a:r>
              <a:rPr lang="fr-FR" dirty="0"/>
              <a:t>, CRC, SACK encode/</a:t>
            </a:r>
            <a:r>
              <a:rPr lang="fr-FR" dirty="0" err="1"/>
              <a:t>decode</a:t>
            </a:r>
            <a:r>
              <a:rPr lang="fr-FR" dirty="0"/>
              <a:t> </a:t>
            </a:r>
          </a:p>
          <a:p>
            <a:r>
              <a:rPr lang="fr-FR" b="1" dirty="0"/>
              <a:t>Tests d’intégration : </a:t>
            </a:r>
            <a:r>
              <a:rPr lang="fr-FR" dirty="0"/>
              <a:t>client ↔ serveur, fichiers de tailles variées </a:t>
            </a:r>
          </a:p>
          <a:p>
            <a:r>
              <a:rPr lang="fr-FR" b="1" dirty="0"/>
              <a:t>Tests d’interopérabilité : </a:t>
            </a:r>
            <a:r>
              <a:rPr lang="fr-FR" dirty="0"/>
              <a:t>avec implémentation de référence </a:t>
            </a:r>
          </a:p>
          <a:p>
            <a:r>
              <a:rPr lang="fr-FR" b="1" dirty="0"/>
              <a:t>Tests robustesse :</a:t>
            </a:r>
            <a:r>
              <a:rPr lang="fr-FR" dirty="0"/>
              <a:t>pertes, corruption, multi-clients </a:t>
            </a:r>
          </a:p>
          <a:p>
            <a:endParaRPr lang="fr-BE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E0FA675-221B-C462-741E-CDAFC60C9C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8B8F9-767A-4546-9D20-2187B79FBE53}" type="slidenum">
              <a:rPr lang="fr-BE" smtClean="0"/>
              <a:t>9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6388506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65BC356-2857-F420-C840-CA32203444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Acquittements sélectifs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D1BF957-E9DF-D69A-49C0-2A5ECDC58B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Retransmissions ciblées : plus efficace en cas de perte, moins de trafic inutile</a:t>
            </a:r>
          </a:p>
          <a:p>
            <a:r>
              <a:rPr lang="fr-BE" dirty="0"/>
              <a:t>Gains : amélioration du débit, réduction latence, plus efficace face aux pertes (moins de retransmissions)</a:t>
            </a:r>
          </a:p>
          <a:p>
            <a:pPr>
              <a:buFont typeface="Wingdings" panose="05000000000000000000" pitchFamily="2" charset="2"/>
              <a:buChar char="Ø"/>
            </a:pPr>
            <a:endParaRPr lang="fr-BE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8112E2C4-C639-2290-5E12-F7CDA1EF33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8B8F9-767A-4546-9D20-2187B79FBE53}" type="slidenum">
              <a:rPr lang="fr-BE" smtClean="0"/>
              <a:t>10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681758928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255</TotalTime>
  <Words>580</Words>
  <Application>Microsoft Office PowerPoint</Application>
  <PresentationFormat>Grand écran</PresentationFormat>
  <Paragraphs>105</Paragraphs>
  <Slides>10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Wingdings</vt:lpstr>
      <vt:lpstr>Thème Office</vt:lpstr>
      <vt:lpstr>LINFO1341 : Projet SRTP</vt:lpstr>
      <vt:lpstr>Architecture du client</vt:lpstr>
      <vt:lpstr>Architecture du serveur</vt:lpstr>
      <vt:lpstr>Timestamp</vt:lpstr>
      <vt:lpstr>Retransmission timeout</vt:lpstr>
      <vt:lpstr>Partie critique</vt:lpstr>
      <vt:lpstr>Performances</vt:lpstr>
      <vt:lpstr>Présentation PowerPoint</vt:lpstr>
      <vt:lpstr>Tests</vt:lpstr>
      <vt:lpstr>Acquittements sélectifs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Ab Mb</dc:creator>
  <cp:lastModifiedBy>Ab Mb</cp:lastModifiedBy>
  <cp:revision>7</cp:revision>
  <dcterms:created xsi:type="dcterms:W3CDTF">2026-03-23T13:41:06Z</dcterms:created>
  <dcterms:modified xsi:type="dcterms:W3CDTF">2026-03-23T21:47:52Z</dcterms:modified>
</cp:coreProperties>
</file>